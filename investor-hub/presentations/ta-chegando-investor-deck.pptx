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294605df3b48ca" /><Relationship Type="http://schemas.openxmlformats.org/officeDocument/2006/relationships/extended-properties" Target="/docProps/app.xml" Id="R626a3fd4135d4ca6" /><Relationship Type="http://schemas.openxmlformats.org/officeDocument/2006/relationships/officeDocument" Target="/ppt/presentation.xml" Id="R4478a4a1b88444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0a0f0c6cb7420e"/>
  </p:sldMasterIdLst>
  <p:notesMasterIdLst>
    <p:notesMasterId xmlns:r="http://schemas.openxmlformats.org/officeDocument/2006/relationships" r:id="R0d51e14c52694607"/>
  </p:notesMasterIdLst>
  <p:sldIdLst>
    <p:sldId xmlns:r="http://schemas.openxmlformats.org/officeDocument/2006/relationships" id="256" r:id="Re9999960823e453f"/>
    <p:sldId xmlns:r="http://schemas.openxmlformats.org/officeDocument/2006/relationships" id="257" r:id="R121f43d017434d2e"/>
    <p:sldId xmlns:r="http://schemas.openxmlformats.org/officeDocument/2006/relationships" id="258" r:id="Rb4a6d215a5a64415"/>
    <p:sldId xmlns:r="http://schemas.openxmlformats.org/officeDocument/2006/relationships" id="259" r:id="R5994b5665c5b436e"/>
    <p:sldId xmlns:r="http://schemas.openxmlformats.org/officeDocument/2006/relationships" id="260" r:id="R988f15b28b9145b0"/>
    <p:sldId xmlns:r="http://schemas.openxmlformats.org/officeDocument/2006/relationships" id="261" r:id="R3c14b442c6ff4823"/>
    <p:sldId xmlns:r="http://schemas.openxmlformats.org/officeDocument/2006/relationships" id="262" r:id="R64046ece37374962"/>
    <p:sldId xmlns:r="http://schemas.openxmlformats.org/officeDocument/2006/relationships" id="263" r:id="Raa1f6bb39f624a7c"/>
    <p:sldId xmlns:r="http://schemas.openxmlformats.org/officeDocument/2006/relationships" id="264" r:id="R4dd1c2612f9b44f7"/>
    <p:sldId xmlns:r="http://schemas.openxmlformats.org/officeDocument/2006/relationships" id="265" r:id="R8a21c0ccaa7d4a8b"/>
    <p:sldId xmlns:r="http://schemas.openxmlformats.org/officeDocument/2006/relationships" id="266" r:id="R86a7a8b4717c4d92"/>
    <p:sldId xmlns:r="http://schemas.openxmlformats.org/officeDocument/2006/relationships" id="267" r:id="R5006bb65ccea44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a0f0c6cb7420e" /><Relationship Type="http://schemas.openxmlformats.org/officeDocument/2006/relationships/theme" Target="/ppt/theme/theme1.xml" Id="R53736df2259a4533" /><Relationship Type="http://schemas.openxmlformats.org/officeDocument/2006/relationships/notesMaster" Target="/ppt/notesMasters/notesMaster1.xml" Id="R0d51e14c52694607" /><Relationship Type="http://schemas.openxmlformats.org/officeDocument/2006/relationships/presProps" Target="/ppt/presProps.xml" Id="R973a561efc8d451c" /><Relationship Type="http://schemas.openxmlformats.org/officeDocument/2006/relationships/viewProps" Target="/ppt/viewProps.xml" Id="Rafba3f3ef0714c0b" /><Relationship Type="http://schemas.openxmlformats.org/officeDocument/2006/relationships/tableStyles" Target="/ppt/tableStyles.xml" Id="R80a2a890834f4b0a" /><Relationship Type="http://schemas.openxmlformats.org/officeDocument/2006/relationships/slide" Target="/ppt/slides/slide1.xml" Id="Re9999960823e453f" /><Relationship Type="http://schemas.openxmlformats.org/officeDocument/2006/relationships/slide" Target="/ppt/slides/slide2.xml" Id="R121f43d017434d2e" /><Relationship Type="http://schemas.openxmlformats.org/officeDocument/2006/relationships/slide" Target="/ppt/slides/slide3.xml" Id="Rb4a6d215a5a64415" /><Relationship Type="http://schemas.openxmlformats.org/officeDocument/2006/relationships/slide" Target="/ppt/slides/slide4.xml" Id="R5994b5665c5b436e" /><Relationship Type="http://schemas.openxmlformats.org/officeDocument/2006/relationships/slide" Target="/ppt/slides/slide5.xml" Id="R988f15b28b9145b0" /><Relationship Type="http://schemas.openxmlformats.org/officeDocument/2006/relationships/slide" Target="/ppt/slides/slide6.xml" Id="R3c14b442c6ff4823" /><Relationship Type="http://schemas.openxmlformats.org/officeDocument/2006/relationships/slide" Target="/ppt/slides/slide7.xml" Id="R64046ece37374962" /><Relationship Type="http://schemas.openxmlformats.org/officeDocument/2006/relationships/slide" Target="/ppt/slides/slide8.xml" Id="Raa1f6bb39f624a7c" /><Relationship Type="http://schemas.openxmlformats.org/officeDocument/2006/relationships/slide" Target="/ppt/slides/slide9.xml" Id="R4dd1c2612f9b44f7" /><Relationship Type="http://schemas.openxmlformats.org/officeDocument/2006/relationships/slide" Target="/ppt/slides/slide10.xml" Id="R8a21c0ccaa7d4a8b" /><Relationship Type="http://schemas.openxmlformats.org/officeDocument/2006/relationships/slide" Target="/ppt/slides/slide11.xml" Id="R86a7a8b4717c4d92" /><Relationship Type="http://schemas.openxmlformats.org/officeDocument/2006/relationships/slide" Target="/ppt/slides/slide12.xml" Id="R5006bb65ccea44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4c57632e58d4a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9f1c5a980a4ed8" /><Relationship Type="http://schemas.openxmlformats.org/officeDocument/2006/relationships/notesMaster" Target="/ppt/notesMasters/notesMaster1.xml" Id="R351259d7016747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8661ccf7bc4de2" /><Relationship Type="http://schemas.openxmlformats.org/officeDocument/2006/relationships/notesMaster" Target="/ppt/notesMasters/notesMaster1.xml" Id="R5ea9c3722a2f4c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e7a8aefec24e02" /><Relationship Type="http://schemas.openxmlformats.org/officeDocument/2006/relationships/notesMaster" Target="/ppt/notesMasters/notesMaster1.xml" Id="Rcf11c7e0400242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25006fcaca4eb9" /><Relationship Type="http://schemas.openxmlformats.org/officeDocument/2006/relationships/notesMaster" Target="/ppt/notesMasters/notesMaster1.xml" Id="Rb2ca63edecc649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83bd476fe34e9e" /><Relationship Type="http://schemas.openxmlformats.org/officeDocument/2006/relationships/notesMaster" Target="/ppt/notesMasters/notesMaster1.xml" Id="R4b38b2ab4a3042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ffb3ec7d084b95" /><Relationship Type="http://schemas.openxmlformats.org/officeDocument/2006/relationships/notesMaster" Target="/ppt/notesMasters/notesMaster1.xml" Id="R7d77eb3f5d164c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ce24ea63114b59" /><Relationship Type="http://schemas.openxmlformats.org/officeDocument/2006/relationships/notesMaster" Target="/ppt/notesMasters/notesMaster1.xml" Id="Re0de2d21a38342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8f0d1188874e2c" /><Relationship Type="http://schemas.openxmlformats.org/officeDocument/2006/relationships/notesMaster" Target="/ppt/notesMasters/notesMaster1.xml" Id="R5b0a0f381d0c49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94a8ca590545e5" /><Relationship Type="http://schemas.openxmlformats.org/officeDocument/2006/relationships/notesMaster" Target="/ppt/notesMasters/notesMaster1.xml" Id="R593df107fba048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1e5d9563fc4cc6" /><Relationship Type="http://schemas.openxmlformats.org/officeDocument/2006/relationships/notesMaster" Target="/ppt/notesMasters/notesMaster1.xml" Id="R27862787aa4a43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9c89dd451446f3" /><Relationship Type="http://schemas.openxmlformats.org/officeDocument/2006/relationships/notesMaster" Target="/ppt/notesMasters/notesMaster1.xml" Id="R55907ebb75b544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65051ca59847cc" /><Relationship Type="http://schemas.openxmlformats.org/officeDocument/2006/relationships/notesMaster" Target="/ppt/notesMasters/notesMaster1.xml" Id="Rb00062795c3547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db09185a749d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81c2c06bdfd49a2" /><Relationship Type="http://schemas.openxmlformats.org/officeDocument/2006/relationships/slideLayout" Target="/ppt/slideLayouts/slideLayout2.xml" Id="Racd67f58db0e40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d67f58db0e40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ae317c662b42f6" /><Relationship Type="http://schemas.openxmlformats.org/officeDocument/2006/relationships/notesSlide" Target="/ppt/notesSlides/notesSlide1.xml" Id="Rb8833aeca1c84e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4ce2cd07a943a4" /><Relationship Type="http://schemas.openxmlformats.org/officeDocument/2006/relationships/notesSlide" Target="/ppt/notesSlides/notesSlide2.xml" Id="Rde44dd02dc934c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5d890b37a14598" /><Relationship Type="http://schemas.openxmlformats.org/officeDocument/2006/relationships/notesSlide" Target="/ppt/notesSlides/notesSlide3.xml" Id="R95e666ac81f245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be0a16574c4ea2" /><Relationship Type="http://schemas.openxmlformats.org/officeDocument/2006/relationships/notesSlide" Target="/ppt/notesSlides/notesSlide4.xml" Id="Ra838537dbabe49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04d9b6f2164da5" /><Relationship Type="http://schemas.openxmlformats.org/officeDocument/2006/relationships/notesSlide" Target="/ppt/notesSlides/notesSlide5.xml" Id="R78a38ea6cc704a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b977f99aa546d4" /><Relationship Type="http://schemas.openxmlformats.org/officeDocument/2006/relationships/notesSlide" Target="/ppt/notesSlides/notesSlide6.xml" Id="Ra78c8dbd79364a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7aa19bb7bb4f36" /><Relationship Type="http://schemas.openxmlformats.org/officeDocument/2006/relationships/notesSlide" Target="/ppt/notesSlides/notesSlide7.xml" Id="R1d99b980d71448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1be29771ac44e8" /><Relationship Type="http://schemas.openxmlformats.org/officeDocument/2006/relationships/notesSlide" Target="/ppt/notesSlides/notesSlide8.xml" Id="Reb29ff20387144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8867cba563404d" /><Relationship Type="http://schemas.openxmlformats.org/officeDocument/2006/relationships/notesSlide" Target="/ppt/notesSlides/notesSlide9.xml" Id="Rcb67ccffc99448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f7a0478afe4700" /><Relationship Type="http://schemas.openxmlformats.org/officeDocument/2006/relationships/notesSlide" Target="/ppt/notesSlides/notesSlide10.xml" Id="Re59ba60e8ece4c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a49468f5ef4631" /><Relationship Type="http://schemas.openxmlformats.org/officeDocument/2006/relationships/notesSlide" Target="/ppt/notesSlides/notesSlide11.xml" Id="R27d28ebb341b46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4d8fb1d3ac4af7" /><Relationship Type="http://schemas.openxmlformats.org/officeDocument/2006/relationships/notesSlide" Target="/ppt/notesSlides/notesSlide12.xml" Id="R18570d1a707e4a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BD72F6-3D35-4D12-B366-52617D36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E0D24-4CAD-42C5-8A62-E9933F83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20848-9B13-4A55-B51C-C11C45B5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F66DD-057F-4FA6-9011-B49C9A61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B00E3-750C-42E6-BB68-69832969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CEDD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0016C-78EF-4358-AC14-2B0B41F5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176B4-FF3E-4165-8099-E14AFD06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DC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DCE8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32115-5B92-4DFF-9AF5-551FDBCC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9DCE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9DCE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0ED91-A1C0-4D5C-95E2-1DCEA91A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Rodada Anjo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D8461-E294-477E-8826-C6193480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Tá Chegando transforma comércio itinerante em rede mensurável.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3221F-D264-4CE5-A32B-1DF7F974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9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7E9F0"/>
                </a:solidFill>
                <a:latin typeface="Aptos"/>
                <a:ea typeface="Aptos"/>
                <a:cs typeface="Aptos"/>
              </a:rPr>
              <a:t>Marketplace de proximidade + SaaS para conectar vendedores em rota, consumidores próximos e operações de frota com dados em tempo real.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BF28A-F3BC-4F6F-A9AE-A933BFCA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3B"/>
          </a:solidFill>
          <a:ln xmlns:a="http://schemas.openxmlformats.org/drawingml/2006/main" w="9525">
            <a:solidFill>
              <a:srgbClr val="2731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847F9-7CAA-47AB-BA3A-0091FFA7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287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CEDD"/>
                </a:solidFill>
                <a:latin typeface="Aptos"/>
                <a:ea typeface="Aptos"/>
                <a:cs typeface="Aptos"/>
              </a:rPr>
              <a:t>RODADA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B62D4-457B-4132-B0EB-CAB5BDBD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383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R$ 375 mil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7AA89-0C73-4693-B076-59D6EE37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CEDD"/>
                </a:solidFill>
                <a:latin typeface="Aptos"/>
                <a:ea typeface="Aptos"/>
                <a:cs typeface="Aptos"/>
              </a:rPr>
              <a:t>Contrato de investidor-anjo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9B544-69DF-4643-91A7-B5191342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2573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3B"/>
          </a:solidFill>
          <a:ln xmlns:a="http://schemas.openxmlformats.org/drawingml/2006/main" w="9525">
            <a:solidFill>
              <a:srgbClr val="2731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FB94A-7719-4B67-A971-17A2E950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287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CEDD"/>
                </a:solidFill>
                <a:latin typeface="Aptos"/>
                <a:ea typeface="Aptos"/>
                <a:cs typeface="Aptos"/>
              </a:rPr>
              <a:t>PRÉ-CADASTROS SP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33C9E-2C23-41A7-A9BF-E2D66CC7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383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63.000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CBEA8-5B5C-41B1-B215-283E9722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526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CEDD"/>
                </a:solidFill>
                <a:latin typeface="Aptos"/>
                <a:ea typeface="Aptos"/>
                <a:cs typeface="Aptos"/>
              </a:rPr>
              <a:t>base de lançamento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9D77D-6102-49BA-9D6A-00ED88D3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3B"/>
          </a:solidFill>
          <a:ln xmlns:a="http://schemas.openxmlformats.org/drawingml/2006/main" w="9525">
            <a:solidFill>
              <a:srgbClr val="2731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DF56CE-5157-4B1D-881A-D9C3D27D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527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CEDD"/>
                </a:solidFill>
                <a:latin typeface="Aptos"/>
                <a:ea typeface="Aptos"/>
                <a:cs typeface="Aptos"/>
              </a:rPr>
              <a:t>PRODUTO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99632-1E76-4EFA-9E9F-C9A24D42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623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20BE9-A800-4C69-9D02-8805E547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CEDD"/>
                </a:solidFill>
                <a:latin typeface="Aptos"/>
                <a:ea typeface="Aptos"/>
                <a:cs typeface="Aptos"/>
              </a:rPr>
              <a:t>desenvolvimento concluído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A50F2-E5D9-4472-9D1B-A7AD13EA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813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9525">
            <a:solidFill>
              <a:srgbClr val="FF4F1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972E6-2184-4D8B-AC92-E8E879F4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527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E4D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E4DA"/>
                </a:solidFill>
                <a:latin typeface="Aptos"/>
                <a:ea typeface="Aptos"/>
                <a:cs typeface="Aptos"/>
              </a:rPr>
              <a:t>CENÁRIO MENSAL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B7F8C4-6643-4626-AD8F-700229EE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623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R$ 3.143.700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41DC28-DE6D-49C3-BD86-4B40F606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E4D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E4DA"/>
                </a:solidFill>
                <a:latin typeface="Aptos"/>
                <a:ea typeface="Aptos"/>
                <a:cs typeface="Aptos"/>
              </a:rPr>
              <a:t>base x assinatura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6586C0-DFC4-43A0-9F64-AD9C29FA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3B"/>
          </a:solidFill>
          <a:ln xmlns:a="http://schemas.openxmlformats.org/drawingml/2006/main" w="9525">
            <a:solidFill>
              <a:srgbClr val="27315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0CA6D7-A48D-4297-9352-2755D257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Tese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1EAC9A-62E8-4E7A-8CC0-398E6DC6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96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economia das ruas já existe. O Tá Chegando cria a camada digital para encontrar, medir e monetizar essa circulação.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2B873C-4958-499D-87C3-2C25FF6C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9CEDD"/>
                </a:solidFill>
                <a:latin typeface="Aptos"/>
                <a:ea typeface="Aptos"/>
                <a:cs typeface="Aptos"/>
              </a:rPr>
              <a:t>Fonte: Business Plan Resumo + Investor Hub.</a:t>
            </a:r>
          </a:p>
        </p:txBody>
      </p:sp>
    </p:spTree>
    <p:extLst>
      <p:ext uri="{BB962C8B-B14F-4D97-AF65-F5344CB8AC3E}">
        <p14:creationId xmlns:p14="http://schemas.microsoft.com/office/powerpoint/2010/main" val="8303151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F4998-92B4-4205-AD0F-B1DAA2D8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D62EF-268A-46D3-ACA3-ED015189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C44A2-31BD-4954-B2B0-4D561969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D57DC-D228-4836-9C40-22AAEAB6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4183F-E0EC-46E0-BD12-A852D51C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52D81-4909-4544-86BC-BBD86A17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D0CC3-D3DD-4811-99B2-B9FBBD65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58B9B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71306-EEBB-4A79-8B54-34573EF8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0F62E-80EF-4C88-8BE8-D869511E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769BE-58C9-47D1-842B-250A849F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A economia itinerante tem demanda, mas opera sem camada viva de localização.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136CB-6E53-4B86-881D-40750DE1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O mercado não sofre por falta de oferta. Sofre porque vendedor, consumidor e gestor não compartilham o mesmo sinal operacional.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58917-B5B2-494D-9E6F-A0723908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4AB84-983E-4211-B741-F3164753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VENDEDOR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DAFA9-E9EA-4236-9291-C1BBAFAC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Rota sem inteligência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0386D-A570-47C6-A761-0BE58674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609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Decide ponto, horário e retorno com pouca leitura de demanda local.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77620-FBEC-463F-A032-73209819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289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A7699-E8BD-439D-99E2-10B3C9BA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003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CONSUMIDOR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2437E-F238-4A5C-AD38-5A05C0B9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289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Oferta invisível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01B61-1DAA-4261-8A66-0FF75357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09950"/>
            <a:ext cx="2609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Quer comprar, mas não sabe onde o vendedor está agora nem quando passa perto.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A7115-0D39-4E53-ADBE-C0C583C4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2890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CBA8A-4430-4403-B636-FB7963EB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FROTA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53880-4FAE-4391-A1D9-6E525A2C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289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Gestão sem telemetria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CBB41-4692-4D95-B958-6A21E1FD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09950"/>
            <a:ext cx="2609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Empresas e distribuidores não enxergam vendedores, rotas, alertas e produtividade em tempo real.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11173-CF2D-48BE-B974-8C29BDAF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24250"/>
            <a:ext cx="790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ED868-4041-4177-B450-AC830712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24250"/>
            <a:ext cx="790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30E2D4-7666-4244-9ECD-DE84FA1A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29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58DCF5-3CE1-48AE-872D-16022E57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29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3D021-E1D4-4079-AF09-09A2F16A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9A4E80-BC54-4EE1-A2E4-14AB8CD4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MERCADO INICIAL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B9B67-B9F6-4046-AD15-2E5A64AE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+500 mil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03F16D-D9E0-4EAF-BFD5-0FEA979B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vendedores informais no Brasil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5CB047-4DCA-4938-A415-CA48595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339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719B22-010A-4B97-968D-1D481C42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10540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POTENCIAL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C5675A-2C06-4AF4-84A4-1211DD90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2578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2 milhões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C3366C-4B3A-4392-A327-EDE67CAC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5245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usuários em expansão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F5A65D-5634-4BC0-A39D-7DFCA26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339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87841F-445B-4270-A2BB-25000DA0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LACUNA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0C2E1C-7291-44AE-8906-027E908F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578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Tempo real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5F4E43-96DA-4B89-9BF4-3D06F829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5245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geolocalização e demanda por região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E68FFA-A908-42EA-9833-5897798F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Fonte: Business Plan. Números de mercado apresentados como estimativas do plano.</a:t>
            </a:r>
          </a:p>
        </p:txBody>
      </p:sp>
    </p:spTree>
    <p:extLst>
      <p:ext uri="{BB962C8B-B14F-4D97-AF65-F5344CB8AC3E}">
        <p14:creationId xmlns:p14="http://schemas.microsoft.com/office/powerpoint/2010/main" val="2213117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52086-30C7-47A1-A617-445C13D6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FFEF0-27E2-4EE1-BF04-8F9EA4D8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5CF95-B22F-4919-AD8E-614E172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5F420-8774-4E54-8F6F-92AF25CA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CF855-F42C-4872-8F34-9A8323E9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47117-18DA-4CFE-B3AD-999196D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E5363-38BF-46D7-85B5-55619289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58B9B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7EC6B-D986-43A1-B0A0-34DAEA7F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EF6E3-10D3-479B-8835-3FED2BCB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PRODUTO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E2E4B-693C-4EF7-8909-7C7DDEE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O produto conecta movimento, descoberta e gestão em uma única operação.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72BD5-59D8-4D19-8AB4-E5718CB7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 proposta combina marketplace de proximidade para consumidores com SaaS operacional para vendedores e frotas.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82519-489E-45CC-9343-0B89E160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33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A9B6D-C021-4A32-B556-B48AE9C0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1990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CE7F6-C6D2-4C19-A235-1C1ABF54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Vendedor ativa rota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71FFF-081B-4EB7-A0B3-3C55F88E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9907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Status online, geolocalização, alertas e ferramentas para vender melhor.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DDDB3-78C1-41BE-B781-F8408342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2333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88140-AA23-4B16-9EE7-B81FEFCA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86075"/>
            <a:ext cx="1990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05390-9A4B-4981-AF74-FA20670B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146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Consumidor encontra perto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70856-3C49-493A-831B-B332A271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95675"/>
            <a:ext cx="19907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Mapa e notificações conectam demanda local a vendedores em circulação.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BB1A3-DFD1-49E4-9079-068C9FE1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14625"/>
            <a:ext cx="2333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CB2B1D-423D-4D41-A0D8-7B315498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86075"/>
            <a:ext cx="1990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062B0-FB6C-47C9-8976-281C3043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146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Frota gerencia operação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F2BED-4D7D-4595-A021-ED60360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95675"/>
            <a:ext cx="19907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Empresas acompanham múltiplos vendedores, dados e produtividade.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63652-1EA7-427F-9C4A-E3DB7B0F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14625"/>
            <a:ext cx="2333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D200EB-57F3-4C4E-AD78-3FB6F588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86075"/>
            <a:ext cx="1990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10606-048F-4F8A-8FF7-307BE307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146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Dados refinam rotas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AD46B6-4E6F-476A-8690-E9AD5EA2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495675"/>
            <a:ext cx="19907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Demanda por região melhora agenda, cobertura e monetização futura.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51D1E-342B-40F6-A392-13E14BB9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5147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3EB05B-0393-4548-837B-C3DEE25D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147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1ACCF5-3100-44B0-9491-351F13E7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147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3032E5-B73E-4AF7-AFE2-AC70A538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706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46B388-C0BD-4DB4-8401-5FFEE536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Produto quase pronto para campo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B84B3-2141-44AE-BADA-6EB5BB1C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91100"/>
            <a:ext cx="628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95% do desenvolvimento tecnológico concluído; a rodada financia o ciclo que transforma produto pronto em prova comercial.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6C5D40-A8F8-4A68-B195-6441F2E7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87680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95%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C8EFA5-4350-4AE6-B2C1-1313B250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Fonte: Business Plan. Sem uso de logotipos de parceiros não verificados.</a:t>
            </a:r>
          </a:p>
        </p:txBody>
      </p:sp>
    </p:spTree>
    <p:extLst>
      <p:ext uri="{BB962C8B-B14F-4D97-AF65-F5344CB8AC3E}">
        <p14:creationId xmlns:p14="http://schemas.microsoft.com/office/powerpoint/2010/main" val="2722755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1AB4F4-7F95-41D5-9085-63E8E6AB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69607-D1E9-4268-B9D3-6B29D523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C7502-FF63-484F-B9A6-27B95C64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759D9-7539-4C42-B06E-E8EBCDCD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0DD42-CBF8-4E8F-96F3-BB711B86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73A22-3CA5-48AB-9399-0EFE8907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A7436-01DC-409C-AB61-86296203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58B9B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D9D2A-A6C0-4100-98C8-2DA73F74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1505B-06B8-4A6C-B260-B7BF68AE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MERCADO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8D9C5-FBF8-42DF-B61C-AECF95E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O mercado inicial já sustenta escala antes de qualquer aposta LATAM.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0830A-4579-4453-BFF4-41DF028C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 tese começa no Brasil, com foco em vendedores informais e vendas diretas, e ganha opcionalidade com licenciamento regional.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A5E70-3552-4EE5-9CF7-83DBB717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Base de lançamento SP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45ACA-7DFC-455A-8087-B0E3000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E195B-A41D-47F6-8B85-24087CE2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765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63.000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8527B-F2D7-4635-968E-55693A08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336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vendedores pré-cadastrados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4201F-04C5-4340-8EC0-78B3FDE4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Mercado Brasil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4314D-2527-4A85-ADA0-F66FF02D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07820-22E3-4850-A541-BCAF6865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147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+500 mil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BB1ED-6FF5-49D0-9C2A-1AEFC492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7192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vendedores informais estimados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2813D-B4EA-4B7D-AC00-E670131E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Expansão potencial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7D08B-E67D-45D5-80C4-27AE2132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8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49B58-6FA9-42EA-A5A6-362C16B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5302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2 milhões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3998F-5852-4A49-9441-176924A0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101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usuários potenciais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5B624-9426-443C-847D-175FC2CA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82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D31FE4-28BB-4984-9555-4F5CB996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66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Leitura para investidor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09818-C2FD-4C94-B40C-FC66A72C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716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 primeira prova comercial não depende de conquistar todo o mercado: ela depende de ativar um recorte já mapeado.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D0503D-C6E2-4EC1-9648-B11E2E3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Fonte: Business Plan. A escala LATAM aparece como etapa de licenciamento, não como premissa do primeiro ciclo.</a:t>
            </a:r>
          </a:p>
        </p:txBody>
      </p:sp>
    </p:spTree>
    <p:extLst>
      <p:ext uri="{BB962C8B-B14F-4D97-AF65-F5344CB8AC3E}">
        <p14:creationId xmlns:p14="http://schemas.microsoft.com/office/powerpoint/2010/main" val="3416202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E7F0AC-2BA6-4542-BC9C-699E1199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8EB1D-A139-405E-9D75-BAA97827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00772-6EEE-4898-BA65-AC5BBB8D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3401A-65B4-4D3F-9885-EEE31A3A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36948-C672-4236-AE6A-03FC0BAA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A1862-C8ED-4579-A5FC-219B19F3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1AA2E-8406-4177-9254-CE90CD88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58B9B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C1D3C-FE98-4FD9-9A33-037250C2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242CA-9D43-4ECB-B341-92230DCC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TRAÇÃO E PREMISSAS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C07A5-0470-41FB-8F0A-00D9937B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A base de lançamento torna o primeiro teste comercial material.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CBF44-9DFA-4209-922C-FEE08B45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O plano combina base pré-cadastrada, assinatura simples e produto quase completo. O número de receita abaixo é cenário bruto se toda a base listada ativar.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A7DCE-CBE3-4217-BBCC-910E1BA2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121DA-238B-4801-A2F3-32431BC4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BASE SP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5C4D2-3319-4D2D-B022-731F9628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63.000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6CE50-F8AD-4AE0-B58E-2B079F26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vendedores pré-cadastrados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FFFE1-5FCB-4E35-ACD3-8B0E9B6D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81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3BFDF-FFFF-48A2-8C11-C9BE1F04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527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PREÇO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906B1-5E59-4671-80B9-57250D74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622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R$ 49,90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64556-E051-475A-84A1-D212F6D9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813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assinatura por usuário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FD64D-FA39-4738-BC07-902BB66A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4"/>
          </a:solidFill>
          <a:ln xmlns:a="http://schemas.openxmlformats.org/drawingml/2006/main" w="9525">
            <a:solidFill>
              <a:srgbClr val="FFD4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DE531-203E-4610-AA0A-2006D61A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527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CENÁRIO BRUTO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672F5-CD4C-4B5D-B19E-0F871A32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6225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R$ 3.143.700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91D05-D1FA-45AE-8E09-89142011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81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mês 1 se 100% ativar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CF43D-7B24-4A50-91D4-58BC5132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D791BD-1B19-4F83-A4D2-1790A9A9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PRODUTO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48020-4E60-4C80-A72B-12D88DB8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95%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2CB96A-C7DA-4ABB-9A83-53E08117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desenvolvimento concluído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96FBCB-F199-4D74-8985-7235A512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851233-6223-4747-89D4-B7AF0CD6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63.000 x R$ 49,90 = R$ 3.143.700 / mês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A55C43-422B-4926-87C7-57737875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0060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C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CE8"/>
                </a:solidFill>
                <a:latin typeface="Aptos"/>
                <a:ea typeface="Aptos"/>
                <a:cs typeface="Aptos"/>
              </a:rPr>
              <a:t>Cenário de faturamento bruto, antes de conversão real, inadimplência, impostos, suporte, aquisição e custos operacionais.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7FCB2E-746C-4E3E-805A-05FA89C9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81250"/>
            <a:ext cx="12573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21BEA3-8594-4369-87B0-3C97992E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52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DILIGÊNCIA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05A42A-FEE3-4D54-9AEC-AF6713D2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813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O que validar agora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016B53-12BC-46DF-8BC7-A72F16B1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62300"/>
            <a:ext cx="914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Conversão da base, retenção inicial, CAC por praça, custos de suporte e margem por canal.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74C8BE-E32C-4C36-B980-9BC802DC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Fonte: Business Plan. Receita apresentada como cenário, não promessa de retorno.</a:t>
            </a:r>
          </a:p>
        </p:txBody>
      </p:sp>
    </p:spTree>
    <p:extLst>
      <p:ext uri="{BB962C8B-B14F-4D97-AF65-F5344CB8AC3E}">
        <p14:creationId xmlns:p14="http://schemas.microsoft.com/office/powerpoint/2010/main" val="1166588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D51AA8-C1F2-4CB9-8F30-BB77464F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95CED-EAD9-4F49-AECF-2E854E0E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C601C-CD79-4BA7-BAF5-8143D53F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94F0E-D5E8-4E28-AF61-4D7213A9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D45FF-0ECD-490C-BA59-49859BB2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80683-C8BC-4326-8CCB-B6BB8F91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BA7A1-1B68-4EFA-BDD6-620B0BF5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58B9B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4FFC4-079C-46EF-B86C-DC211245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062B4-F552-460A-868C-6565FDCE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MODELO DE NEGÓCIOS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21D06-17A3-404B-BCCD-0CDDE731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A assinatura do vendedor é o primeiro motor; frotas e dados ampliam o valor por conta.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384B3-0E11-4138-B3B7-E92F4C12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O modelo evita depender apenas de take-rate transacional: começa recorrente, melhora com gestão operacional e cria dados locais de demanda.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1DD4D-FC5F-4D0C-B29C-647087DC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4"/>
          </a:solidFill>
          <a:ln xmlns:a="http://schemas.openxmlformats.org/drawingml/2006/main" w="9525">
            <a:solidFill>
              <a:srgbClr val="FFD4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D93A7-1DE3-46A8-864D-91962262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Assinatura vendedor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5F289-AAFB-42D4-AC3F-C97E63A9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76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R$ 49,90 / mês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3039A-9474-453F-89B4-7B705CC5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Entrada recorrente, simples de comunicar e ligada ao uso diário.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51337-BE3F-4D93-B517-33BB383D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4B2DC-117D-4DED-B260-5F365A20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Frotas e empresas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50D05-0A0F-4261-AEF0-6296FB97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57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multiusuário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1C664-5247-487E-BE82-623A8634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Gestão de equipes, rotas e produtividade para canais B2B.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5BD05-E0EF-491E-8672-F2C2681F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67484-B720-40F4-AEEA-9905EB13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Marketplace local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D4334-B21B-460C-8674-65365935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38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alcance e alertas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F7657-B210-4685-B64F-780D8511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Consumidores próximos elevam conversão do vendedor e frequência.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C57E0-2B61-485C-AAFC-670FF184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DD3CD-15CC-477B-BCA8-AB9D280A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Dados de demanda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DC6BFB-A4BD-410D-9AC8-6B958463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19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inteligência regional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D1348F-B192-495F-B449-AFD9D46B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96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Heatmap, rotas e sinais comerciais para expansão.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966661-2169-41E1-935C-3CD4FEB6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Monetização em camadas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3CD468-2A34-4021-AED1-C98119FF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1238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13C44-953D-44C1-A0F4-F832E133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24150"/>
            <a:ext cx="838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ARPU cresce com frotas.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36C2B2-1BC6-4743-87A9-1EFDD871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29100"/>
            <a:ext cx="838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C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CE8"/>
                </a:solidFill>
                <a:latin typeface="Aptos"/>
                <a:ea typeface="Aptos"/>
                <a:cs typeface="Aptos"/>
              </a:rPr>
              <a:t>De vendedor individual para operação gerenciada.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947DE9-0C3E-426F-9B31-0F0A6C22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Fonte: Business Plan + Investor Hub. Valores detalhados de frotas e dados entram como próxima validação comercial.</a:t>
            </a:r>
          </a:p>
        </p:txBody>
      </p:sp>
    </p:spTree>
    <p:extLst>
      <p:ext uri="{BB962C8B-B14F-4D97-AF65-F5344CB8AC3E}">
        <p14:creationId xmlns:p14="http://schemas.microsoft.com/office/powerpoint/2010/main" val="5867471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DD466-5486-4D63-84FB-794C2555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A7EA2-212B-4E5B-A221-BDF4AE03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E8A11-B2AA-4CC0-9B0D-8C802EF7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7536F-25BE-4D70-A0F6-597E2A93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4BD52-2F02-4280-A504-B6EBB9DD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BF9C0-095F-456F-AF96-67EAE456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EAD2C-5C7C-4172-BC29-4B857DE2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58B9B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6C429-9BDD-4CB1-9A84-81B25CB7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EAAB5-34DC-4F20-B89A-E0ED09A0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GROWTH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67DAD-63E8-4026-8628-A58B1D37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Cada vendedor ativado melhora o sinal que atrai consumidores e novas contas.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7CF49-EF8B-4257-B424-B6014F25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O loop de crescimento é operacional: mais vendedores online geram mais descoberta, mais interações e melhores dados para vender a próxima praça.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FFE7C-457A-42D3-B884-24310265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9525">
            <a:solidFill>
              <a:srgbClr val="FF4F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EF2F4-62E3-4989-B7AB-38E30194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FA984-E460-4727-ACB0-B64BE0DE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762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Ativar vendedor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A1CC5-D2F0-46FA-9E2A-B48A3681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0289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E4D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E4DA"/>
                </a:solidFill>
                <a:latin typeface="Aptos"/>
                <a:ea typeface="Aptos"/>
                <a:cs typeface="Aptos"/>
              </a:rPr>
              <a:t>pré-cadastro + onboarding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3FABB-ED79-4007-8ED1-C3032806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2D672-7DE3-4A4F-8723-063DD740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50961-D1FA-48A6-8A62-C95BA73D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Gerar presença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7A216-3C7B-4F94-9076-1725CC19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336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rota visível em tempo real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FE91A-01D9-41AD-BE78-BE5B9BC2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908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610AF-086F-49F5-9037-3AD9C734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622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1295E-883E-4776-BA06-AE370243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62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Atrair demanda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6A2A3-1C4C-4F4C-94EC-995B57C3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289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mapa e notificações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AD101-E2EC-4EA2-95FC-71A8EB42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0C3BF-9707-41F9-962B-D0B17298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244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54439C-E0D1-4E20-981A-012FBB31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244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Capturar dados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2D67CF-2A6E-4F15-A508-69AFCD26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911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heatmap e horários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60290F-58BB-4182-9300-90B9E913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529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DEFF87-0E18-4274-BBCC-A50E16B5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244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4D6CF-8823-4CD4-982E-D8AD7649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244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Escalar praça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DA819B-4DC2-4217-A8C2-602FE991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911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frotas e playbook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8A00FA-6B23-442F-9A26-CDF76942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718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BFC410-2A9E-4696-BC02-FCE22C67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DDED5D-0147-456C-A78B-AB1A1E75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9950"/>
            <a:ext cx="28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8D63F2-9163-4CC4-80B8-D0C6DE4E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149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511D76-7BF7-4204-82D3-4AE26EEE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9950"/>
            <a:ext cx="28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A36DE1-3AA2-4220-A398-B294E747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762BEC-C46C-44AA-AA89-73BF0EF4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003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SINAL MENSAL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7997C5-DD7E-4E54-9E46-1FFC63D6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099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+410 mil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055948-FEC8-445E-B8C2-6C4533D8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337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notificações como proxy de recorrência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7A6990-E61F-44A9-BF3A-B8831577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5407B3-9376-4986-A9F6-924A1EE1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EXPERIÊNCIA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3DE4AC-E44D-490C-BD73-066CDCBB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815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4,8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796996-461C-4DAD-B9C7-97331AEF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053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avaliação média no Hub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0E3E36-551E-4DE6-A1D6-A5E94D96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Fonte: Investor Hub. Métricas tratadas como sinais operacionais a aprofundar na diligência.</a:t>
            </a:r>
          </a:p>
        </p:txBody>
      </p:sp>
    </p:spTree>
    <p:extLst>
      <p:ext uri="{BB962C8B-B14F-4D97-AF65-F5344CB8AC3E}">
        <p14:creationId xmlns:p14="http://schemas.microsoft.com/office/powerpoint/2010/main" val="11618990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5E5CC-35BC-414C-A626-219CCD00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7E4F4-4BB8-4DD8-8BDB-910B843B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61353-4583-4A7A-AA28-9CDFA2ED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C9788-0794-4B04-B817-FC63A737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4C856-3F78-4363-A9A8-B38C3D87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BF848-ECCD-4364-9704-46CD2984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191A3-E3E0-4568-9F36-0F3BC5DD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58B9B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0DB9F-BA9C-49F6-B56A-E51ACFED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03920-E6D9-47F7-B97F-F5AB484E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2C370-FF93-4430-851D-B12A28C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São Paulo é o laboratório para provar ativação, suporte e repetição por praça.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09364-DF11-4C6D-A6A0-BEE8C2E5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 execução começa onde a base já está mapeada e transforma campo em playbook antes de expandir para outros estados e parceiros regionais.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C9BE7-1C91-4CCF-8FEB-DE45A734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9F7DC-C8BB-4943-9970-0B9E82CD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14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 pré-cadastrada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24F48-D235-4FB3-B744-2C705842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336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63.000 vendedores SP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3C584-E5BF-467C-AC82-F888C5D1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21517-B656-4C61-9EFC-72D28BE8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Ativação de campo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50860-25FE-46F7-889C-FB9A4D95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76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onboarding + suporte + rotas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57CEC-8CAD-4A8C-962A-9949E241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628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8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4D486-C4CC-46B1-837C-31F8C2DE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Uso recorrente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23DCB-49C0-4F7B-9D8F-A2DBD60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195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alertas, mapa e demanda local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796D6-04DC-42A9-AA51-10494B5D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6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29450-7A63-4587-B319-6D585670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Contas de frota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75206-CE4E-4D93-8A8B-A193F03A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625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múltiplos vendedores gerenciados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14526-0EEC-4B5D-9A44-655880EE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23431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484447-11AA-401A-AA1D-F08298F6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1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FOCO DO APORTE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2FC43-B863-480E-8DAB-CFE5CC6D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0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De produto pronto para operação repetível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35C01E-759F-469E-AFDB-7D361608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 rodada financia o ciclo que prova ativação, suporte, retenção e governança comercial.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1C0A6-9606-4581-891B-9C7574B7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2343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4B96F3-91E3-4BFF-99FD-3959E875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291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DADO CRÍTICO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8296D-592D-4E64-923B-34154BF8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57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Conversão por praça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3C2D05-7828-4128-AB59-E601E853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38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Acompanhar funil semanal, cohorts e custo por ativação.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39F3A-D3FE-4807-9D08-8F99C9FC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Fonte: Business Plan. O playbook operacional é a ponte entre pré-cadastro e receita recorrente.</a:t>
            </a:r>
          </a:p>
        </p:txBody>
      </p:sp>
    </p:spTree>
    <p:extLst>
      <p:ext uri="{BB962C8B-B14F-4D97-AF65-F5344CB8AC3E}">
        <p14:creationId xmlns:p14="http://schemas.microsoft.com/office/powerpoint/2010/main" val="19954760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80E8B4-531A-41B0-950E-F8289DF6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1A8B7-EB46-46C9-9F03-F8EE4073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60410-12F9-48A9-B1BD-85716B14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8E5CE-9F3F-4BF8-BE91-E4435C8A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2F4CF-8E0E-41F5-B915-FCEBA827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C4778-1ED8-4564-9948-FEB47F75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6C472-E7EE-40CC-9ABB-0D8064C3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58B9B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08B59-569D-4F1B-A525-72C914F8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EA00D-AF4A-454C-B03C-9B6D95ED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22667-F227-45A2-BE45-0D14362B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O Business Plan organiza a expansão em marcos verificáveis.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67E51-B6CC-41F0-A756-028A4E3E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 sequência evita vender uma visão distante sem provas: primeiro campo, depois frotas, expansão nacional, contrato e liderança regional.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418B6-4B66-46ED-B53C-69B6B629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10F4F-7BAC-4F41-A0C7-DF898692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9525">
            <a:solidFill>
              <a:srgbClr val="FF4F1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8CD39-6AF5-4208-96E8-47F39A1A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C91D7-908B-44D3-829D-7F63A44F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IMEDIATO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9DE6A-4DF1-406B-910A-C27482D5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Lançamento SP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AE896-C366-49D0-BC3E-721029C5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Ativação comercial, operação de campo e suporte.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DD850-5E7F-4493-8DF0-DAB6CEEA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0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A7963-8DD2-42E9-8FF4-FBBEE55A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861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B1127-166D-4480-8BFC-AE0434A4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48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6 MESES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6B738-6B13-4116-BBA0-98370E6F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76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LATAM + Frotas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11758-CBAC-42AA-9E00-260592A0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7675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Licenciamento regional e gestão multi-vendedor.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1958A-0E56-45FA-81CD-78016CD7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CBDFD-9366-48F3-B8E6-C90E0D30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861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53FD01-8BCE-4E38-AAE5-39157210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48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1 ANO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4B2E2A-64FD-4EFA-8DD7-034A4517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76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Nacional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1C74C-3A31-46B8-8C3E-50D1B372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7675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Replicar playbook em outros estados brasileiros.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D7A010-67A8-4E28-BC3F-1792FE1C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00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33689-6828-474D-BAF8-C255196F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861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B4206B-7741-49C9-9EC5-926A3D82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48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2 ANOS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A13388-FE52-456F-9132-8B41FF13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76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Conversão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0C4838-491B-4CA4-AF82-7C8517C2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7675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Maturidade operacional e eventos contratuais.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C5957A-77A2-4BAE-ADFA-825D2A2F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00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63171F-A1CE-4E56-9259-24778B1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861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3DBAE6-C683-47D3-9378-426ADC0B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48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5 ANOS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912EF2-72FB-41A1-9E07-6BF5D8F2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76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Liderança regional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C131DA-1281-4EB2-9E8C-727D76C9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157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Maior plataforma de comércio itinerante da América Latina.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DD9DEA-6F8F-415C-9FAF-4431459B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Fonte: Business Plan. Roadmap depende de validação comercial e governança da rodada.</a:t>
            </a:r>
          </a:p>
        </p:txBody>
      </p:sp>
    </p:spTree>
    <p:extLst>
      <p:ext uri="{BB962C8B-B14F-4D97-AF65-F5344CB8AC3E}">
        <p14:creationId xmlns:p14="http://schemas.microsoft.com/office/powerpoint/2010/main" val="10144781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FAA62-89A6-4E25-AFD0-C6F0D971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E30BB-D44E-420D-B744-52B66EAA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1F8FF-04FC-46C8-A998-766DA102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2AE0F-B65E-4EA8-B8B1-1B02FBB5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46405-1FA6-4A0E-989B-A1680FA9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026FB-8335-4392-AF25-C8FF1E35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C7413-F83C-49E1-BC90-932CBB78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58B9B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D49DA-5DD9-4E40-A01C-1E771C70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592EA-22DA-4CC5-A321-A8B823B1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RODADA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D01B1-E733-47DA-B5AD-538CF02D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R$ 375 mil financiam a prova comercial sem abrir a área pública do data room.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33B13-AF8C-4A34-82D2-F31D1420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 rodada é apresentada em cotas e contrato de investidor-anjo. Detalhes econômicos ficam na negociação e no contrato.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D6292-DC25-427A-8ACD-8854EEE2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76DA8-72FA-43E4-AAC7-69B71091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VALOR ALVO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A12AD-1600-426B-A5AC-C08BC6AC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R$ 375 mil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895C3-4DA8-4726-912F-F76234AF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rodada anjo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023FF-804E-416C-8255-4776CBA1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7B151-422A-46D7-8015-B6BD9ABB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COTA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46D15-0DBA-4EDD-A2D8-E6CE22AB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051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R$ 15 mil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8DC27-00F3-4D43-9232-6D99A82F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908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entrada por investidor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C6F06-82E6-4FB2-BE9E-62634D2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241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8EE10-4A3D-4984-A0D1-FF477DE8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678"/>
                </a:solidFill>
                <a:latin typeface="Aptos"/>
                <a:ea typeface="Aptos"/>
                <a:cs typeface="Aptos"/>
              </a:rPr>
              <a:t>CAPACIDADE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9A343-ABCB-46BC-B627-D346A921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25 cotas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33410-C8FE-4BFD-A135-9AAEC75C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908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cotas disponíveis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FA4E72-FD36-4DDA-92AC-BB215D59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11C537-2F1F-411F-B511-200A575F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955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BASE LEGAL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15B4DB-4394-4DC5-BD4D-83F87D1C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241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Contrato de investidor-anjo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6E9A4B-D19C-4525-A421-D776004C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05150"/>
            <a:ext cx="2800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Regido pela LC 182/2021; responsabilidade e vínculo societário seguem os termos contratados.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377204-11C1-491A-BDA4-F74936DC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Pipeline atual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CB646B-0F2B-4519-98AA-05DB0079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Novo interesse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7A2F9A-C000-4C5C-8A84-97E4884A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196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AF587E-3CB4-4752-BB6E-832D96EB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19600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3EF5C8-B9F6-425E-BB22-2C6B4DF3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EF905C-07AE-40F0-967C-CA3B82C9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815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R$ 270 mil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08387E-3189-40CF-A7E2-44FADA41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Reunião marcada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2AFB82-0A8E-459D-AB72-DBE0542A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387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11B2CC-FFAD-4D05-94F9-9983A49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38700"/>
            <a:ext cx="1476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45235B-A048-4392-AEAD-B04F3764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A921CF-0683-4994-8CB5-130FF059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00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R$ 135 mil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B14410-D820-4BBB-ADAD-7CE11106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Due diligence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CC5F8A-ADF1-47E3-9A88-B261339C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578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96E887-189A-4A8B-9195-14ED8012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578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8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18EA7B-4D06-4002-89E8-F8561789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F5A816-AF3C-4436-8764-A2A0D0A3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197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R$ 75 mil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544947-A3E3-4E28-B1C4-696670B4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Term sheet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CC3683-CBEB-4BD5-97D1-DFB202B5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769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E13DDF-3CD2-4DE6-BBA8-F9777F23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769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6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B2862B-4B0E-4C80-92E1-66F2270E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388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1D7A05-45E2-46EC-AB5D-141CF5C7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38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R$ 30 mil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FD1773-7D79-4B8A-BA44-494FFC5B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2762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4"/>
          </a:solidFill>
          <a:ln xmlns:a="http://schemas.openxmlformats.org/drawingml/2006/main" w="9525">
            <a:solidFill>
              <a:srgbClr val="FFD4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2618AC-06A4-4510-AC29-17713E11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43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Leitura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29147D-2727-4E86-B121-F827537F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291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Interesse suficiente para diligência; fechamento depende de compromisso assinado.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044B0E-8A94-454B-9C08-1DC39887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Fonte: Business Plan + Investor Hub. Participação por cota sujeita aos documentos da rodada.</a:t>
            </a:r>
          </a:p>
        </p:txBody>
      </p:sp>
    </p:spTree>
    <p:extLst>
      <p:ext uri="{BB962C8B-B14F-4D97-AF65-F5344CB8AC3E}">
        <p14:creationId xmlns:p14="http://schemas.microsoft.com/office/powerpoint/2010/main" val="17879053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FD2B51-96A4-45A7-977F-40E571CD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726F3-25CA-4A5A-A874-B95ED115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18478-19E4-4EC9-AE31-FB03AEF5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2861E-C961-4BAE-9B4A-FCABE5FC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50E2F-42CE-468D-AA96-1AED0561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ED77C-D35C-4882-9D9A-01D1FD5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F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508D6-0ABE-440B-832A-04E35B57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58B9B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AC005-784B-43F9-AF56-0C10BAD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EE81B-3B32-46AC-8454-2DEF7C80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F12"/>
                </a:solidFill>
                <a:latin typeface="Aptos"/>
                <a:ea typeface="Aptos"/>
                <a:cs typeface="Aptos"/>
              </a:rPr>
              <a:t>USO DO CAPITAL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40E43-6E3A-49A8-B088-29DACAE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0D2D"/>
                </a:solidFill>
                <a:latin typeface="Aptos Display"/>
                <a:ea typeface="Aptos Display"/>
                <a:cs typeface="Aptos Display"/>
              </a:rPr>
              <a:t>O aporte deve comprar aprendizado operacional, não apenas mais desenvolvimento.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E9B30-BF1B-4614-BC71-DE3FBBCB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Sem percentuais oficiais de alocação no material-fonte, o deck organiza o uso do capital por frentes de de-risking para diligência.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A8F72-B71C-4720-8C34-BFFD70FE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4"/>
          </a:solidFill>
          <a:ln xmlns:a="http://schemas.openxmlformats.org/drawingml/2006/main" w="9525">
            <a:solidFill>
              <a:srgbClr val="FFD4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C5B22-6788-49A1-9FBC-940B4422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35CEC-D3CC-47F9-8C68-F9862789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28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Produto e geolocalização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0155F-D56B-41A8-9D78-23A79802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Estabilidade, dados de demanda, mapa, alertas e gestão de rota.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6DB2F-90DC-49BB-88CE-93CC0368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81250"/>
            <a:ext cx="4438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51B97-673B-4F6F-9EF1-03BECA8F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098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77E91-0E6A-4991-AD32-A495293D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Aquisição 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4910F-BEBF-47FB-80C9-FC5D0A7C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527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Ativação da base pré-cadastrada, campo e campanhas por praça.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D22FE-2238-4C28-AF72-787C560D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438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784DB-0D6E-4CE8-8770-4637D699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864B1-EE99-4338-A189-E740B9ED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5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Operação e suporte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7449A-448B-4362-9198-5339174F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767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Onboarding, atendimento, retenção e rotinas de vendedores.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BCC66A-F1B8-454B-9778-2B8C4E62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4438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2B1DD-0F89-49CB-9B85-79A02658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38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50D66-081B-45C0-91D1-77CF3A0A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5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Governança da rodada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C3550-1FA8-43E6-8D80-CD759D0F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78"/>
                </a:solidFill>
                <a:latin typeface="Aptos"/>
                <a:ea typeface="Aptos"/>
                <a:cs typeface="Aptos"/>
              </a:rPr>
              <a:t>Data room, contrato, métricas semanais e reporting para investidores.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8F44EE-9047-403B-A898-D787E396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939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 w="9525">
            <a:solidFill>
              <a:srgbClr val="DEDF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398F65-E055-4E37-A5B9-C83D4159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790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0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0D2D"/>
                </a:solidFill>
                <a:latin typeface="Aptos"/>
                <a:ea typeface="Aptos"/>
                <a:cs typeface="Aptos"/>
              </a:rPr>
              <a:t>Próxima diligência: converter essas frentes em orçamento mensal, donos, metas e gatilhos de liberação.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193477-3423-4402-9016-3C075441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58B9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58B9B"/>
                </a:solidFill>
                <a:latin typeface="Aptos"/>
                <a:ea typeface="Aptos"/>
                <a:cs typeface="Aptos"/>
              </a:rPr>
              <a:t>Fonte: Investor Hub. Não foram inventados percentuais de alocação.</a:t>
            </a:r>
          </a:p>
        </p:txBody>
      </p:sp>
    </p:spTree>
    <p:extLst>
      <p:ext uri="{BB962C8B-B14F-4D97-AF65-F5344CB8AC3E}">
        <p14:creationId xmlns:p14="http://schemas.microsoft.com/office/powerpoint/2010/main" val="3043439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FAF5DF-4B61-483E-BA13-3E54A152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12E23-5BDB-47D5-B2BD-57B7E55C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F12"/>
                </a:solidFill>
                <a:latin typeface="Aptos Display"/>
                <a:ea typeface="Aptos Display"/>
                <a:cs typeface="Aptos Display"/>
              </a:rPr>
              <a:t>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68C8F-6B70-4EF4-8F60-72BCCDC3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1AB76-67DC-4544-AE99-24F0E0A2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Tá Chegando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2B037-F27F-4A0E-8E21-7AAE604C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CEDD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535A2-4DDC-473F-8001-A1BBE46E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1AC61-A843-4A00-8B1F-B44C6721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DC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DCE8"/>
                </a:solidFill>
                <a:latin typeface="Aptos"/>
                <a:ea typeface="Aptos"/>
                <a:cs typeface="Aptos"/>
              </a:rPr>
              <a:t>Tá Chegando Investor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2D5E5-47DA-46C9-9D27-FF6109F7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9DCE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9DCE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6CEB1-0B06-4B41-888C-C7A362E4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PRÓXIMO PASSO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9DD2A-7800-45C5-B4FB-A68D60D7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Convite para diligência: validar base, contrato e plano de ativação.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4BDC0-4297-4D45-8CE2-2D084AC3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647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9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7E9F0"/>
                </a:solidFill>
                <a:latin typeface="Aptos"/>
                <a:ea typeface="Aptos"/>
                <a:cs typeface="Aptos"/>
              </a:rPr>
              <a:t>A reunião deve focar menos em visão e mais em evidência: conversão, retenção, custo de ativação, suporte e marcos jurídicos da rodada.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E6242-4069-40E4-99D6-98D9C557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09900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3B"/>
          </a:solidFill>
          <a:ln xmlns:a="http://schemas.openxmlformats.org/drawingml/2006/main" w="9525">
            <a:solidFill>
              <a:srgbClr val="2731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D4A65-86B5-4EA6-9E90-B9EAAB12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956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D6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D6A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A9AEF-2923-469B-95BE-59A08E38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861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 Plan revisado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B789F-9126-499C-B653-418C055A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6707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9CEDD"/>
                </a:solidFill>
                <a:latin typeface="Aptos"/>
                <a:ea typeface="Aptos"/>
                <a:cs typeface="Aptos"/>
              </a:rPr>
              <a:t>tese, mercado, expansão e proposta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F0A1A-2B55-4934-8D3A-40F4DD27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38550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3B"/>
          </a:solidFill>
          <a:ln xmlns:a="http://schemas.openxmlformats.org/drawingml/2006/main" w="9525">
            <a:solidFill>
              <a:srgbClr val="2731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DE74E-A273-4752-972C-9D6416FB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2427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D6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D6A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BC3A9-FED2-4AC6-8097-F28DDB6D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Premissas financeiras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6F537-F95E-4161-B69D-99856F00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9572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9CEDD"/>
                </a:solidFill>
                <a:latin typeface="Aptos"/>
                <a:ea typeface="Aptos"/>
                <a:cs typeface="Aptos"/>
              </a:rPr>
              <a:t>base, assinatura, conversão e sensibilidade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474EE-B5EE-42F3-9128-314E581A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67200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3B"/>
          </a:solidFill>
          <a:ln xmlns:a="http://schemas.openxmlformats.org/drawingml/2006/main" w="9525">
            <a:solidFill>
              <a:srgbClr val="2731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F270E-B460-44FA-A97C-1514480C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5292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D6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D6A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0C3BE-A5E0-4325-AB63-84182DA5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434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Dados societários e contrato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778B70-266E-4D38-A0A2-B14FD288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2437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9CEDD"/>
                </a:solidFill>
                <a:latin typeface="Aptos"/>
                <a:ea typeface="Aptos"/>
                <a:cs typeface="Aptos"/>
              </a:rPr>
              <a:t>LC 182/2021 e estrutura de investidor-anjo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60D0C-A027-466E-AACE-EBA516A1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95850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3B"/>
          </a:solidFill>
          <a:ln xmlns:a="http://schemas.openxmlformats.org/drawingml/2006/main" w="9525">
            <a:solidFill>
              <a:srgbClr val="2731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0F6AB-A4B9-4D82-8037-6055E415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81575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D6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D6A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10018-9B4B-4865-9024-1A4351B9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720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Uso do capital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CFCAE5-3CED-45C9-AF01-338B7579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5302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9CEDD"/>
                </a:solidFill>
                <a:latin typeface="Aptos"/>
                <a:ea typeface="Aptos"/>
                <a:cs typeface="Aptos"/>
              </a:rPr>
              <a:t>frentes, orçamento e metas de de-risking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0F2A9-3B9D-49E4-89D6-897DE9C0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334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D6AA3B-2B8E-42FB-BBF6-1372B93F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E4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4DA"/>
                </a:solidFill>
                <a:latin typeface="Aptos"/>
                <a:ea typeface="Aptos"/>
                <a:cs typeface="Aptos"/>
              </a:rPr>
              <a:t>Pedido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E73CE1-5C3E-433B-86A7-52D510F3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R$ 375 mil para provar o primeiro ciclo comercial.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BF4B5-5A54-40B5-9977-EC08230A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E4D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E4DA"/>
                </a:solidFill>
                <a:latin typeface="Aptos"/>
                <a:ea typeface="Aptos"/>
                <a:cs typeface="Aptos"/>
              </a:rPr>
              <a:t>Com governança semanal e data room restrito.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9D31D2-6874-4649-9566-F751A1C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CED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9CEDD"/>
                </a:solidFill>
                <a:latin typeface="Aptos"/>
                <a:ea typeface="Aptos"/>
                <a:cs typeface="Aptos"/>
              </a:rPr>
              <a:t>Esta apresentação não constitui oferta pública de valores mobiliários. Termos sujeitos a contrato e diligência.</a:t>
            </a:r>
          </a:p>
        </p:txBody>
      </p:sp>
    </p:spTree>
    <p:extLst>
      <p:ext uri="{BB962C8B-B14F-4D97-AF65-F5344CB8AC3E}">
        <p14:creationId xmlns:p14="http://schemas.microsoft.com/office/powerpoint/2010/main" val="1104495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2026-05-04T21:01:16.5670000Z</dcterms:created>
  <dcterms:modified xsi:type="dcterms:W3CDTF">2026-05-04T21:01:16.5670000Z</dcterms:modified>
</coreProperties>
</file>